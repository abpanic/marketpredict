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0" r:id="rId7"/>
    <p:sldId id="269" r:id="rId8"/>
    <p:sldId id="261" r:id="rId9"/>
    <p:sldId id="262" r:id="rId10"/>
    <p:sldId id="263" r:id="rId11"/>
    <p:sldId id="271" r:id="rId12"/>
    <p:sldId id="272" r:id="rId13"/>
    <p:sldId id="273" r:id="rId14"/>
    <p:sldId id="268" r:id="rId15"/>
    <p:sldId id="264" r:id="rId16"/>
    <p:sldId id="265" r:id="rId17"/>
    <p:sldId id="266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4E5B7-3D76-4355-A99B-ED1C5D64A42C}" v="1" dt="2025-09-07T14:15:15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3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Panicker" userId="b3697d40-78ff-4571-901a-605f2b67e3c3" providerId="ADAL" clId="{0AA2EE65-2990-4C97-BF95-E8144DB51F9B}"/>
    <pc:docChg chg="modSld">
      <pc:chgData name="Abhilash Panicker" userId="b3697d40-78ff-4571-901a-605f2b67e3c3" providerId="ADAL" clId="{0AA2EE65-2990-4C97-BF95-E8144DB51F9B}" dt="2025-09-07T14:15:29.095" v="3" actId="122"/>
      <pc:docMkLst>
        <pc:docMk/>
      </pc:docMkLst>
      <pc:sldChg chg="modSp mod">
        <pc:chgData name="Abhilash Panicker" userId="b3697d40-78ff-4571-901a-605f2b67e3c3" providerId="ADAL" clId="{0AA2EE65-2990-4C97-BF95-E8144DB51F9B}" dt="2025-09-07T14:15:29.095" v="3" actId="122"/>
        <pc:sldMkLst>
          <pc:docMk/>
          <pc:sldMk cId="0" sldId="256"/>
        </pc:sldMkLst>
        <pc:spChg chg="mod">
          <ac:chgData name="Abhilash Panicker" userId="b3697d40-78ff-4571-901a-605f2b67e3c3" providerId="ADAL" clId="{0AA2EE65-2990-4C97-BF95-E8144DB51F9B}" dt="2025-09-07T14:15:29.095" v="3" actId="122"/>
          <ac:spMkLst>
            <pc:docMk/>
            <pc:sldMk cId="0" sldId="256"/>
            <ac:spMk id="86" creationId="{00000000-0000-0000-0000-000000000000}"/>
          </ac:spMkLst>
        </pc:spChg>
      </pc:sldChg>
      <pc:sldChg chg="modSp mod">
        <pc:chgData name="Abhilash Panicker" userId="b3697d40-78ff-4571-901a-605f2b67e3c3" providerId="ADAL" clId="{0AA2EE65-2990-4C97-BF95-E8144DB51F9B}" dt="2025-09-07T13:25:03.430" v="0" actId="108"/>
        <pc:sldMkLst>
          <pc:docMk/>
          <pc:sldMk cId="0" sldId="257"/>
        </pc:sldMkLst>
        <pc:spChg chg="mod">
          <ac:chgData name="Abhilash Panicker" userId="b3697d40-78ff-4571-901a-605f2b67e3c3" providerId="ADAL" clId="{0AA2EE65-2990-4C97-BF95-E8144DB51F9B}" dt="2025-09-07T13:25:03.430" v="0" actId="108"/>
          <ac:spMkLst>
            <pc:docMk/>
            <pc:sldMk cId="0" sldId="257"/>
            <ac:spMk id="9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b453ca69b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b453ca69b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Student name - 2 marks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Mentor’s name - 2 marks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Topic name - 2 marks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-&gt; automated grading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453ca6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453ca6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453ca69b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b453ca69b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453ca69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b453ca69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453ca69b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453ca69b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484B8F0-C247-EC8C-0136-3FD31A1D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453ca69b_0_179:notes">
            <a:extLst>
              <a:ext uri="{FF2B5EF4-FFF2-40B4-BE49-F238E27FC236}">
                <a16:creationId xmlns:a16="http://schemas.microsoft.com/office/drawing/2014/main" id="{92AB7CF0-F9CB-CAE9-CD60-FB6D6BCEE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453ca69b_0_179:notes">
            <a:extLst>
              <a:ext uri="{FF2B5EF4-FFF2-40B4-BE49-F238E27FC236}">
                <a16:creationId xmlns:a16="http://schemas.microsoft.com/office/drawing/2014/main" id="{59DE8AAA-DF59-7745-7093-B1BFE80BA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06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A8D31D4-5A59-768C-41FD-8D9462FB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453ca69b_0_179:notes">
            <a:extLst>
              <a:ext uri="{FF2B5EF4-FFF2-40B4-BE49-F238E27FC236}">
                <a16:creationId xmlns:a16="http://schemas.microsoft.com/office/drawing/2014/main" id="{0ACB80AE-316E-F87F-1D6E-2BD30E971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453ca69b_0_179:notes">
            <a:extLst>
              <a:ext uri="{FF2B5EF4-FFF2-40B4-BE49-F238E27FC236}">
                <a16:creationId xmlns:a16="http://schemas.microsoft.com/office/drawing/2014/main" id="{D887D2D0-D424-A827-F305-8B608D005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249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453ca69b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453ca69b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b453ca69b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b453ca69b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1914C5C-2445-7C30-FD43-082545C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>
            <a:extLst>
              <a:ext uri="{FF2B5EF4-FFF2-40B4-BE49-F238E27FC236}">
                <a16:creationId xmlns:a16="http://schemas.microsoft.com/office/drawing/2014/main" id="{B7B0EFDE-4EBE-998C-4C8D-79EE0864FF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>
            <a:extLst>
              <a:ext uri="{FF2B5EF4-FFF2-40B4-BE49-F238E27FC236}">
                <a16:creationId xmlns:a16="http://schemas.microsoft.com/office/drawing/2014/main" id="{78973226-7939-F38D-7CDD-65AC1F470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006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8547DAE-08FA-5DAB-020F-A83D6874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>
            <a:extLst>
              <a:ext uri="{FF2B5EF4-FFF2-40B4-BE49-F238E27FC236}">
                <a16:creationId xmlns:a16="http://schemas.microsoft.com/office/drawing/2014/main" id="{BE89A856-A553-57D9-D645-12313BFE0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>
            <a:extLst>
              <a:ext uri="{FF2B5EF4-FFF2-40B4-BE49-F238E27FC236}">
                <a16:creationId xmlns:a16="http://schemas.microsoft.com/office/drawing/2014/main" id="{D89C7DDA-6A55-AC23-5F3C-215BB30868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511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353242B-E02F-1809-7B6D-A08D98ED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>
            <a:extLst>
              <a:ext uri="{FF2B5EF4-FFF2-40B4-BE49-F238E27FC236}">
                <a16:creationId xmlns:a16="http://schemas.microsoft.com/office/drawing/2014/main" id="{1A37483D-4B12-689A-6766-CB52E04D8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>
            <a:extLst>
              <a:ext uri="{FF2B5EF4-FFF2-40B4-BE49-F238E27FC236}">
                <a16:creationId xmlns:a16="http://schemas.microsoft.com/office/drawing/2014/main" id="{0E23A0CA-35DC-19D2-C844-CCFE31402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758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697CF18-4D7B-85BA-5F98-3663F132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b453ca69b_0_194:notes">
            <a:extLst>
              <a:ext uri="{FF2B5EF4-FFF2-40B4-BE49-F238E27FC236}">
                <a16:creationId xmlns:a16="http://schemas.microsoft.com/office/drawing/2014/main" id="{52481622-CD08-FD93-9959-5C89EF162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b453ca69b_0_194:notes">
            <a:extLst>
              <a:ext uri="{FF2B5EF4-FFF2-40B4-BE49-F238E27FC236}">
                <a16:creationId xmlns:a16="http://schemas.microsoft.com/office/drawing/2014/main" id="{F20091EC-B2D1-5AF3-742D-0C6D2ACE1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546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b453ca69b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b453ca69b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b453ca69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b453ca69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b453ca69b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b453ca69b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218181"/>
              </a:lnSpc>
              <a:spcBef>
                <a:spcPts val="1200"/>
              </a:spcBef>
            </a:pPr>
            <a:r>
              <a:rPr lang="en-US" sz="2400" dirty="0"/>
              <a:t>Monsoon &amp; Macro Signals to Predict Stock Break-Out</a:t>
            </a:r>
            <a:br>
              <a:rPr lang="en-US" sz="2400" dirty="0"/>
            </a:br>
            <a:r>
              <a:rPr lang="en" sz="2300" dirty="0"/>
              <a:t>Final Presentation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450" y="3056825"/>
            <a:ext cx="8102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Name:	Abhilash Panicker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Mentor: 	Abhijit Chakraborty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97906" y="1761159"/>
            <a:ext cx="8020629" cy="2857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u="sng" dirty="0"/>
              <a:t>Objective: </a:t>
            </a:r>
            <a:r>
              <a:rPr lang="en-US" altLang="en-US" dirty="0"/>
              <a:t>Forecast next-quarter Midcap vs NIFTY excess return using monsoon rainfall + economic signals.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u="sng" dirty="0"/>
              <a:t>Why it matters: </a:t>
            </a:r>
            <a:r>
              <a:rPr lang="en-US" altLang="en-US" dirty="0"/>
              <a:t>Weather and macro surprises often move markets; we test whether combining them improves timing for midcap exposure.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u="sng" dirty="0"/>
              <a:t>Data: </a:t>
            </a:r>
            <a:r>
              <a:rPr lang="en-US" altLang="en-US" dirty="0"/>
              <a:t>India monsoon deviation from normal (IMD), inflation, GDP, policy rate, and index returns (2013–2025), aligned by quarter.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u="sng" dirty="0"/>
              <a:t>Approach: </a:t>
            </a:r>
            <a:r>
              <a:rPr lang="en-US" altLang="en-US" dirty="0"/>
              <a:t>Compare a simple baseline (previous quarter’s return) to an expanded model (adds monsoon + macro). Walk-forward validation.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u="sng" dirty="0"/>
              <a:t>Result: </a:t>
            </a:r>
            <a:r>
              <a:rPr lang="en-GB" dirty="0"/>
              <a:t>No model beats naïve baselines on this sample. Recent relative performance (last quarter’s spread) carries the most usable signal. Macro variables (inflation, GDP, policy rate, monsoon) show weak, unstable lift at a quarterly horizon</a:t>
            </a:r>
            <a:endParaRPr lang="en-US" alt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Gap Analysis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dirty="0"/>
              <a:t>Prior work links monsoon → GDP and macro → equity returns separately.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b="1" u="sng" dirty="0"/>
              <a:t>Gap:</a:t>
            </a:r>
            <a:r>
              <a:rPr lang="en-US" altLang="en-US" sz="1400" dirty="0"/>
              <a:t> No applied business study combining monsoon + macro to forecast midcap excess return next quarter.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b="1" u="sng" dirty="0"/>
              <a:t>Business use:</a:t>
            </a:r>
            <a:r>
              <a:rPr lang="en-US" altLang="en-US" sz="1400" dirty="0"/>
              <a:t> If a “good monsoon + supportive macro” reliably preceded stronger midcap quarters, allocators could tilt exposure tactically; policy teams could quantify climate sensitivity.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Questions</a:t>
            </a:r>
            <a:endParaRPr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635431" y="1853850"/>
            <a:ext cx="7782719" cy="2486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46050" indent="0">
              <a:buNone/>
            </a:pPr>
            <a:r>
              <a:rPr lang="en-IN" dirty="0"/>
              <a:t>1) Does deviation in monsoon rainfall significantly correlate with Midcap breakouts?</a:t>
            </a:r>
          </a:p>
          <a:p>
            <a:pPr marL="146050" indent="0">
              <a:buNone/>
            </a:pPr>
            <a:r>
              <a:rPr lang="en-IN" u="sng" dirty="0"/>
              <a:t>Method:</a:t>
            </a:r>
            <a:r>
              <a:rPr lang="en-IN" dirty="0"/>
              <a:t> Pearson/Spearman; 12-Q rolling; partial correlations (trend/seasonality); lagged cross-correlation.</a:t>
            </a:r>
          </a:p>
          <a:p>
            <a:endParaRPr lang="en-IN" dirty="0"/>
          </a:p>
          <a:p>
            <a:pPr marL="146050" indent="0">
              <a:buNone/>
            </a:pPr>
            <a:r>
              <a:rPr lang="en-IN" dirty="0"/>
              <a:t>2) Which macroeconomic indicators best predict Midcap 100 breakouts? (considered: GDP growth YoY, policy-rate change in bps)</a:t>
            </a:r>
          </a:p>
          <a:p>
            <a:pPr marL="146050" indent="0">
              <a:buNone/>
            </a:pPr>
            <a:r>
              <a:rPr lang="en-IN" u="sng" dirty="0"/>
              <a:t>Method:</a:t>
            </a:r>
            <a:r>
              <a:rPr lang="en-IN" dirty="0"/>
              <a:t> Expanding-window CV (5 folds); compare Ridge, Lasso, GBR, RF vs naïve baselines; selection by RMSE.</a:t>
            </a:r>
          </a:p>
          <a:p>
            <a:endParaRPr lang="en-IN" dirty="0"/>
          </a:p>
          <a:p>
            <a:pPr marL="146050" indent="0">
              <a:buNone/>
            </a:pPr>
            <a:r>
              <a:rPr lang="en-IN" dirty="0"/>
              <a:t>3) Does a combined monsoon–macroeconomic model outperform models using single-signal inputs?</a:t>
            </a:r>
          </a:p>
          <a:p>
            <a:pPr marL="146050" indent="0">
              <a:buNone/>
            </a:pPr>
            <a:r>
              <a:rPr lang="en-IN" u="sng" dirty="0"/>
              <a:t>Method:</a:t>
            </a:r>
            <a:r>
              <a:rPr lang="en-IN" dirty="0"/>
              <a:t> Ablation in same CV (momentum-only, monsoon-only, macro-only, combined); compare RMSE.</a:t>
            </a:r>
          </a:p>
          <a:p>
            <a:endParaRPr lang="en-IN" dirty="0"/>
          </a:p>
          <a:p>
            <a:pPr marL="146050" indent="0">
              <a:buNone/>
            </a:pPr>
            <a:r>
              <a:rPr lang="en-IN" dirty="0"/>
              <a:t>4) Which features (e.g., lagged monsoon, repo-rate changes, GDP) have the highest predictive weight?</a:t>
            </a:r>
          </a:p>
          <a:p>
            <a:pPr marL="146050" indent="0">
              <a:buNone/>
            </a:pPr>
            <a:r>
              <a:rPr lang="en-IN" u="sng" dirty="0"/>
              <a:t>Method:</a:t>
            </a:r>
            <a:r>
              <a:rPr lang="en-IN" dirty="0"/>
              <a:t> Permutation importance on small holdout; drop-one ablation; L1/L2 sanity checks; partial correlations.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 and EDA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588936" y="1759058"/>
            <a:ext cx="8183105" cy="3184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Sources &amp; scope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Rainfall: IMD, All-India monsoon deviation from normal (Jun–Sep), 2012–2025.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Gross Domestic Product(GDP): </a:t>
            </a:r>
            <a:r>
              <a:rPr lang="en-US" altLang="en-US" dirty="0" err="1"/>
              <a:t>MoSPI</a:t>
            </a:r>
            <a:r>
              <a:rPr lang="en-US" altLang="en-US" dirty="0"/>
              <a:t>(Institute), quarterly GDP growth (YoY, %), 2014–2025.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Policy rate: RBI, repo rate level and quarterly change (basis points), 2014–2025.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Indices: NSE Indices, NIFTY 50 &amp; NIFTY Midcap 100 daily levels → quarterly returns, 2013–2025.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Frequency &amp; alignment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All inputs aligned to calendar quarter-end.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Monsoon deviation stamped at Sep-30 each year and forward-filled until the next monsoon season.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Target is constructed on quarterly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Target variable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Next-quarter Midcap vs NIFTY outperformance (%)</a:t>
            </a:r>
            <a:br>
              <a:rPr lang="en-US" altLang="en-US" dirty="0"/>
            </a:br>
            <a:r>
              <a:rPr lang="en-US" altLang="en-US" dirty="0"/>
              <a:t>(i.e., Midcap quarterly return minus NIFTY quarterly return, predicted one quarter ahead.)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Features used at time 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Monsoon deviation (%), GDP growth (YoY, %), Policy rate change (bps),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Momentum: last-quarter spread &amp; 4-quarter average,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Seasonality: quarter-of-year (sine/cosine).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rgbClr val="FF0000"/>
                </a:solidFill>
              </a:rPr>
              <a:t>Note: </a:t>
            </a:r>
            <a:r>
              <a:rPr lang="en-US" altLang="en-US" dirty="0"/>
              <a:t>PMI was evaluated in the interim study and excluded from the final model due to very low incremental signal.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CCB9108-06F2-F538-6536-E206D9AB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D6321BC-9E6E-8A62-2A17-2901142AE8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 and EDA</a:t>
            </a:r>
            <a:endParaRPr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963F0F1B-2E4E-BC0E-F0F7-296991D3B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5851" y="1759058"/>
            <a:ext cx="8046190" cy="3060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 descr="A graph with orange lines&#10;&#10;AI-generated content may be incorrect.">
            <a:extLst>
              <a:ext uri="{FF2B5EF4-FFF2-40B4-BE49-F238E27FC236}">
                <a16:creationId xmlns:a16="http://schemas.microsoft.com/office/drawing/2014/main" id="{FA49ABBD-B337-03D0-1945-99EFE4522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52" y="1853850"/>
            <a:ext cx="4241356" cy="2544813"/>
          </a:xfrm>
          <a:prstGeom prst="rect">
            <a:avLst/>
          </a:prstGeom>
        </p:spPr>
      </p:pic>
      <p:sp>
        <p:nvSpPr>
          <p:cNvPr id="5" name="Google Shape;111;p17">
            <a:extLst>
              <a:ext uri="{FF2B5EF4-FFF2-40B4-BE49-F238E27FC236}">
                <a16:creationId xmlns:a16="http://schemas.microsoft.com/office/drawing/2014/main" id="{C5CDD1DE-5DCB-5170-9A36-C848DBF779CE}"/>
              </a:ext>
            </a:extLst>
          </p:cNvPr>
          <p:cNvSpPr txBox="1">
            <a:spLocks/>
          </p:cNvSpPr>
          <p:nvPr/>
        </p:nvSpPr>
        <p:spPr>
          <a:xfrm>
            <a:off x="4719233" y="1642820"/>
            <a:ext cx="4117369" cy="3347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The Midcap–NIFTY spread is the quarterly excess return of the Midcap index over the NIFTY benchmark.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This is the target variable we are modeling.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The chart shows historical spreads by quarter (positive = Midcaps outperform NIFTY, negative = underperform).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A 0% reference line is added for clarity: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Above line → Midcaps outperform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Below line → NIFTY outperforms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u="sng" dirty="0"/>
              <a:t>Takeaway: </a:t>
            </a:r>
            <a:r>
              <a:rPr lang="en-US" altLang="en-US" dirty="0"/>
              <a:t>The spread exhibits clear fluctuations over time, supporting the need for predictive modeling.</a:t>
            </a:r>
          </a:p>
          <a:p>
            <a:pPr marL="0" indent="0">
              <a:spcAft>
                <a:spcPts val="1200"/>
              </a:spcAft>
              <a:buFont typeface="Lato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077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2E09FED-C28C-953A-AAD0-0CA8307E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471820FC-B601-620B-2622-90F5316D68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Description and EDA</a:t>
            </a:r>
            <a:endParaRPr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1291A183-4F24-E479-8D47-4B68AA807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5851" y="1759058"/>
            <a:ext cx="8046190" cy="3060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 descr="A diagram of a heat map&#10;&#10;AI-generated content may be incorrect.">
            <a:extLst>
              <a:ext uri="{FF2B5EF4-FFF2-40B4-BE49-F238E27FC236}">
                <a16:creationId xmlns:a16="http://schemas.microsoft.com/office/drawing/2014/main" id="{EF058A4E-13CE-35A1-7F7C-9AD5C5125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156" y="1599164"/>
            <a:ext cx="4067885" cy="3475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9C8FBE-1EBE-ED50-1C0A-96A75200A475}"/>
              </a:ext>
            </a:extLst>
          </p:cNvPr>
          <p:cNvSpPr txBox="1"/>
          <p:nvPr/>
        </p:nvSpPr>
        <p:spPr>
          <a:xfrm>
            <a:off x="813662" y="1853851"/>
            <a:ext cx="3890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Quarterly Pearson correlations. Most relationships are weak; the strongest with the target are still small (|r| ≲ 0.23).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Macro variables are modestly correlated with each other but not with next-quarter outperformance.</a:t>
            </a:r>
            <a:endParaRPr lang="en-IN" sz="12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14978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 diagram/Workflow</a:t>
            </a:r>
            <a:endParaRPr dirty="0"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2AEC67-865D-F96D-85BA-F780A1C6B9B1}"/>
              </a:ext>
            </a:extLst>
          </p:cNvPr>
          <p:cNvSpPr/>
          <p:nvPr/>
        </p:nvSpPr>
        <p:spPr>
          <a:xfrm>
            <a:off x="677528" y="2328095"/>
            <a:ext cx="1615801" cy="44810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Data Ingest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3186E55-9EF1-F048-BEAB-A9FD0DF78E72}"/>
              </a:ext>
            </a:extLst>
          </p:cNvPr>
          <p:cNvSpPr/>
          <p:nvPr/>
        </p:nvSpPr>
        <p:spPr>
          <a:xfrm>
            <a:off x="2413603" y="2328095"/>
            <a:ext cx="1363525" cy="44810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Quarter Alignment &amp; QC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A49F26-2DBD-845A-D98E-0FB1E1B651E7}"/>
              </a:ext>
            </a:extLst>
          </p:cNvPr>
          <p:cNvSpPr/>
          <p:nvPr/>
        </p:nvSpPr>
        <p:spPr>
          <a:xfrm>
            <a:off x="3897402" y="2339103"/>
            <a:ext cx="1815562" cy="44810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Feature Prep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1E1F3D-A6F5-0DA2-D5AF-8AF89A37B74F}"/>
              </a:ext>
            </a:extLst>
          </p:cNvPr>
          <p:cNvSpPr/>
          <p:nvPr/>
        </p:nvSpPr>
        <p:spPr>
          <a:xfrm>
            <a:off x="5833238" y="2339102"/>
            <a:ext cx="1301913" cy="44810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Train Models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D82FD2-76D8-93DB-A28F-7D0BF3A39D80}"/>
              </a:ext>
            </a:extLst>
          </p:cNvPr>
          <p:cNvSpPr/>
          <p:nvPr/>
        </p:nvSpPr>
        <p:spPr>
          <a:xfrm>
            <a:off x="7317037" y="2328095"/>
            <a:ext cx="1240400" cy="44810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Walk-Forward Validation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3E5A9D-F9D4-0EB1-AF35-02EF12E63F59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293329" y="2552146"/>
            <a:ext cx="1202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4EE4CE-2A96-8FA0-404B-37151C636BD7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777128" y="2552146"/>
            <a:ext cx="120274" cy="11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6AF96A-A5B9-59AE-7D71-D1F1B674484E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5712964" y="2563154"/>
            <a:ext cx="1202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995B41-32BB-8E31-6125-25866B8625E6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135151" y="2552146"/>
            <a:ext cx="181886" cy="11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peech Bubble: Rectangle with Corners Rounded 82">
            <a:extLst>
              <a:ext uri="{FF2B5EF4-FFF2-40B4-BE49-F238E27FC236}">
                <a16:creationId xmlns:a16="http://schemas.microsoft.com/office/drawing/2014/main" id="{BBF074BC-FF7F-ABE4-6A93-5691562A2DC6}"/>
              </a:ext>
            </a:extLst>
          </p:cNvPr>
          <p:cNvSpPr/>
          <p:nvPr/>
        </p:nvSpPr>
        <p:spPr>
          <a:xfrm>
            <a:off x="677528" y="3112762"/>
            <a:ext cx="1615801" cy="1238239"/>
          </a:xfrm>
          <a:prstGeom prst="wedgeRoundRectCallout">
            <a:avLst>
              <a:gd name="adj1" fmla="val -31384"/>
              <a:gd name="adj2" fmla="val -76432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IMD: monsoon (Jun–Sep)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MoSPI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: GDP YoY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RBI: repo rate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NSE: NIFTY50 &amp; Midcap100</a:t>
            </a:r>
          </a:p>
        </p:txBody>
      </p:sp>
      <p:sp>
        <p:nvSpPr>
          <p:cNvPr id="91" name="Speech Bubble: Rectangle with Corners Rounded 90">
            <a:extLst>
              <a:ext uri="{FF2B5EF4-FFF2-40B4-BE49-F238E27FC236}">
                <a16:creationId xmlns:a16="http://schemas.microsoft.com/office/drawing/2014/main" id="{8EBAF0CE-FA21-9FAD-E8BA-FE7E8DC248AC}"/>
              </a:ext>
            </a:extLst>
          </p:cNvPr>
          <p:cNvSpPr/>
          <p:nvPr/>
        </p:nvSpPr>
        <p:spPr>
          <a:xfrm>
            <a:off x="2415474" y="3108206"/>
            <a:ext cx="1481928" cy="1231768"/>
          </a:xfrm>
          <a:prstGeom prst="wedgeRoundRectCallout">
            <a:avLst>
              <a:gd name="adj1" fmla="val -265"/>
              <a:gd name="adj2" fmla="val -75514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Stamp to calendar quarter-end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Monsoon stamped Sep-30, carried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QC checks; avoid look-ahead</a:t>
            </a:r>
          </a:p>
        </p:txBody>
      </p:sp>
      <p:sp>
        <p:nvSpPr>
          <p:cNvPr id="92" name="Speech Bubble: Rectangle with Corners Rounded 91">
            <a:extLst>
              <a:ext uri="{FF2B5EF4-FFF2-40B4-BE49-F238E27FC236}">
                <a16:creationId xmlns:a16="http://schemas.microsoft.com/office/drawing/2014/main" id="{23245A60-2F95-AAF8-5CE7-D699259942FE}"/>
              </a:ext>
            </a:extLst>
          </p:cNvPr>
          <p:cNvSpPr/>
          <p:nvPr/>
        </p:nvSpPr>
        <p:spPr>
          <a:xfrm>
            <a:off x="3949324" y="3107277"/>
            <a:ext cx="1634102" cy="1238240"/>
          </a:xfrm>
          <a:prstGeom prst="wedgeRoundRectCallout">
            <a:avLst>
              <a:gd name="adj1" fmla="val -34657"/>
              <a:gd name="adj2" fmla="val -73552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Momentum: lag-1, 4-Q avg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Monsoon deviation (%)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GDP growth (YoY, %)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Policy-rate Δ (bps)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Seasonality: </a:t>
            </a:r>
            <a:r>
              <a:rPr lang="en-IN" sz="1000" dirty="0"/>
              <a:t>quarter-of-year</a:t>
            </a:r>
            <a:endParaRPr lang="en-US" altLang="en-US" sz="1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3" name="Speech Bubble: Rectangle with Corners Rounded 92">
            <a:extLst>
              <a:ext uri="{FF2B5EF4-FFF2-40B4-BE49-F238E27FC236}">
                <a16:creationId xmlns:a16="http://schemas.microsoft.com/office/drawing/2014/main" id="{477923B6-EAA3-EFE9-213F-8D812A4C1936}"/>
              </a:ext>
            </a:extLst>
          </p:cNvPr>
          <p:cNvSpPr/>
          <p:nvPr/>
        </p:nvSpPr>
        <p:spPr>
          <a:xfrm>
            <a:off x="7255677" y="3101732"/>
            <a:ext cx="1240400" cy="1238241"/>
          </a:xfrm>
          <a:prstGeom prst="wedgeRoundRectCallout">
            <a:avLst>
              <a:gd name="adj1" fmla="val -31667"/>
              <a:gd name="adj2" fmla="val -75340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Expanding Timeseries Split (5)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Simulate deployment (unseen Qs)</a:t>
            </a:r>
          </a:p>
        </p:txBody>
      </p:sp>
      <p:sp>
        <p:nvSpPr>
          <p:cNvPr id="95" name="Speech Bubble: Rectangle with Corners Rounded 94">
            <a:extLst>
              <a:ext uri="{FF2B5EF4-FFF2-40B4-BE49-F238E27FC236}">
                <a16:creationId xmlns:a16="http://schemas.microsoft.com/office/drawing/2014/main" id="{058D3F02-1074-DCFF-C106-57A24F6C8DD0}"/>
              </a:ext>
            </a:extLst>
          </p:cNvPr>
          <p:cNvSpPr/>
          <p:nvPr/>
        </p:nvSpPr>
        <p:spPr>
          <a:xfrm>
            <a:off x="5688845" y="3115997"/>
            <a:ext cx="1394849" cy="1231768"/>
          </a:xfrm>
          <a:prstGeom prst="wedgeRoundRectCallout">
            <a:avLst>
              <a:gd name="adj1" fmla="val -2208"/>
              <a:gd name="adj2" fmla="val -77270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Baselines: mean, lag-1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Ridge, Lasso, GBR, RF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Target: next-Q spread (T→T+1)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building</a:t>
            </a:r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1797804"/>
            <a:ext cx="8104584" cy="28981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Target (what we predict):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/>
              <a:t>Next-quarter Midcap − NIFTY spread (%).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Features (available at time T):</a:t>
            </a:r>
            <a:br>
              <a:rPr lang="en-US" altLang="en-US" dirty="0"/>
            </a:br>
            <a:r>
              <a:rPr lang="en-US" altLang="en-US" dirty="0"/>
              <a:t>– Monsoon deviation (%) (IMD, Jun–Sep stamped Sep-30 and carried)</a:t>
            </a:r>
            <a:br>
              <a:rPr lang="en-US" altLang="en-US" dirty="0"/>
            </a:br>
            <a:r>
              <a:rPr lang="en-US" altLang="en-US" dirty="0"/>
              <a:t>– GDP growth (YoY, %); policy-rate change (bps)</a:t>
            </a:r>
            <a:br>
              <a:rPr lang="en-US" altLang="en-US" dirty="0"/>
            </a:br>
            <a:r>
              <a:rPr lang="en-US" altLang="en-US" dirty="0"/>
              <a:t>– Momentum: last-quarter spread; 4-quarter average</a:t>
            </a:r>
            <a:br>
              <a:rPr lang="en-US" altLang="en-US" dirty="0"/>
            </a:br>
            <a:r>
              <a:rPr lang="en-US" altLang="en-US" dirty="0"/>
              <a:t>– Seasonality: quarter-of-year (sin/cos)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Models compared: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/>
              <a:t>Ridge, Lasso, Gradient Boosting, Random Forest vs naïve baselines (train-mean; lag-1 only).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Validation design: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/>
              <a:t>Expanding </a:t>
            </a:r>
            <a:r>
              <a:rPr lang="en-US" altLang="en-US" dirty="0" err="1"/>
              <a:t>TimeSeries</a:t>
            </a:r>
            <a:r>
              <a:rPr lang="en-US" altLang="en-US" dirty="0"/>
              <a:t> Split (5 folds), no shuffling; features at T, target at T+1 to avoid look-ahead.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/>
              <a:t>Evaluation: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/>
              <a:t>primary RMSE; report MAE, R² as supporting metrics.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2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821409" y="3289649"/>
            <a:ext cx="7596741" cy="15845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>
              <a:sym typeface="Arial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AA8914-92C5-1069-B938-7F24C7A92D6F}"/>
              </a:ext>
            </a:extLst>
          </p:cNvPr>
          <p:cNvSpPr txBox="1"/>
          <p:nvPr/>
        </p:nvSpPr>
        <p:spPr>
          <a:xfrm>
            <a:off x="725850" y="4223472"/>
            <a:ext cx="77569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On this dataset, simpler wins: the baseline makes more correct up/down calls</a:t>
            </a:r>
          </a:p>
          <a:p>
            <a:pPr marL="171450" lvl="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Adding a rainfall-based GDP improved the expanded model slightly, but still under the baseline.</a:t>
            </a:r>
            <a:endParaRPr lang="en-US" altLang="en-US" sz="1200" dirty="0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B8141A-8077-8C96-D9D9-6496A607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06" y="1807110"/>
            <a:ext cx="6682440" cy="24631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07670B7-CB16-71AD-F240-20E4BFBF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>
            <a:extLst>
              <a:ext uri="{FF2B5EF4-FFF2-40B4-BE49-F238E27FC236}">
                <a16:creationId xmlns:a16="http://schemas.microsoft.com/office/drawing/2014/main" id="{50DAE6A0-90C4-A530-A386-23DBCE479C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9" name="Google Shape;129;p20">
            <a:extLst>
              <a:ext uri="{FF2B5EF4-FFF2-40B4-BE49-F238E27FC236}">
                <a16:creationId xmlns:a16="http://schemas.microsoft.com/office/drawing/2014/main" id="{1F43957A-0AC9-4AC7-6B24-A241F9414C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409" y="3289649"/>
            <a:ext cx="7596741" cy="15845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>
              <a:sym typeface="Arial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23E3A-B727-02BE-A86C-130F4AC4ACB0}"/>
              </a:ext>
            </a:extLst>
          </p:cNvPr>
          <p:cNvSpPr txBox="1"/>
          <p:nvPr/>
        </p:nvSpPr>
        <p:spPr>
          <a:xfrm>
            <a:off x="725851" y="1853851"/>
            <a:ext cx="41406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Results – Cross-validation RMSE</a:t>
            </a:r>
          </a:p>
          <a:p>
            <a:endParaRPr lang="en-GB" sz="1200" b="1" u="sng" dirty="0">
              <a:solidFill>
                <a:schemeClr val="accent1"/>
              </a:solidFill>
              <a:latin typeface="Lato"/>
              <a:ea typeface="Lato"/>
              <a:cs typeface="Lato"/>
            </a:endParaRPr>
          </a:p>
          <a:p>
            <a:r>
              <a:rPr lang="en-GB" sz="1200" b="1" u="sng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Why it matters: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RMSE is the main accuracy metric (lower = better).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Benchmarks the models against simple baselines.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accent1"/>
              </a:solidFill>
              <a:latin typeface="Lato"/>
              <a:ea typeface="Lato"/>
              <a:cs typeface="Lato"/>
            </a:endParaRPr>
          </a:p>
          <a:p>
            <a:r>
              <a:rPr lang="en-GB" sz="1200" b="1" u="sng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Key Findings: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Baselines (mean &amp; lag-1) achieve the lowest RMSE.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All machine learning models (RF, Lasso, Gradient Boosting, Ridge) fail to beat baselines.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Indicates that macro signals add little value beyond naïve baselines.</a:t>
            </a:r>
          </a:p>
        </p:txBody>
      </p:sp>
      <p:pic>
        <p:nvPicPr>
          <p:cNvPr id="4" name="Picture 3" descr="A graph of blue and black bars&#10;&#10;AI-generated content may be incorrect.">
            <a:extLst>
              <a:ext uri="{FF2B5EF4-FFF2-40B4-BE49-F238E27FC236}">
                <a16:creationId xmlns:a16="http://schemas.microsoft.com/office/drawing/2014/main" id="{7AFA889C-83DA-D9EA-D4EE-C12A39666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467" y="1119851"/>
            <a:ext cx="3897823" cy="29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84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84DE0EC-5E0A-52AD-6F73-CEC1702B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>
            <a:extLst>
              <a:ext uri="{FF2B5EF4-FFF2-40B4-BE49-F238E27FC236}">
                <a16:creationId xmlns:a16="http://schemas.microsoft.com/office/drawing/2014/main" id="{33C66D17-CD1A-1B72-FEE6-88BA36F52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129" name="Google Shape;129;p20">
            <a:extLst>
              <a:ext uri="{FF2B5EF4-FFF2-40B4-BE49-F238E27FC236}">
                <a16:creationId xmlns:a16="http://schemas.microsoft.com/office/drawing/2014/main" id="{50A52BF9-5081-800E-39CA-0EBA03614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409" y="3289649"/>
            <a:ext cx="7596741" cy="15845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>
              <a:sym typeface="Arial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92946-4A42-8993-BA1C-EE3ECDCF3E79}"/>
              </a:ext>
            </a:extLst>
          </p:cNvPr>
          <p:cNvSpPr txBox="1"/>
          <p:nvPr/>
        </p:nvSpPr>
        <p:spPr>
          <a:xfrm>
            <a:off x="725851" y="1853851"/>
            <a:ext cx="41406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Interpretation – Permutation Importance</a:t>
            </a:r>
          </a:p>
          <a:p>
            <a:endParaRPr lang="en-GB" sz="1200" b="1" u="sng" dirty="0">
              <a:solidFill>
                <a:schemeClr val="accent1"/>
              </a:solidFill>
              <a:latin typeface="Lato"/>
              <a:ea typeface="Lato"/>
              <a:cs typeface="Lato"/>
            </a:endParaRPr>
          </a:p>
          <a:p>
            <a:r>
              <a:rPr lang="en-GB" sz="1200" b="1" u="sng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Why it matters: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Identifies which features contribute most (even if weakly) to predictions.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Helps assess whether macro variables add value.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accent1"/>
              </a:solidFill>
              <a:latin typeface="Lato"/>
              <a:ea typeface="Lato"/>
              <a:cs typeface="Lato"/>
            </a:endParaRPr>
          </a:p>
          <a:p>
            <a:r>
              <a:rPr lang="en-GB" sz="1200" b="1" u="sng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Key Findings: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Momentum signals dominate lagged excess return and moving average show the most predictive value.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Macro variables are weak: CPI and rainfall anomalies add very little explanatory power.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Seasonal terms (</a:t>
            </a:r>
            <a:r>
              <a:rPr lang="en-GB" sz="1200" dirty="0" err="1">
                <a:solidFill>
                  <a:schemeClr val="accent1"/>
                </a:solidFill>
                <a:latin typeface="Lato"/>
                <a:ea typeface="Lato"/>
                <a:cs typeface="Lato"/>
              </a:rPr>
              <a:t>q_sin</a:t>
            </a: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, </a:t>
            </a:r>
            <a:r>
              <a:rPr lang="en-GB" sz="1200" dirty="0" err="1">
                <a:solidFill>
                  <a:schemeClr val="accent1"/>
                </a:solidFill>
                <a:latin typeface="Lato"/>
                <a:ea typeface="Lato"/>
                <a:cs typeface="Lato"/>
              </a:rPr>
              <a:t>q_cos</a:t>
            </a:r>
            <a:r>
              <a:rPr lang="en-GB" sz="1200" dirty="0">
                <a:solidFill>
                  <a:schemeClr val="accent1"/>
                </a:solidFill>
                <a:latin typeface="Lato"/>
                <a:ea typeface="Lato"/>
                <a:cs typeface="Lato"/>
              </a:rPr>
              <a:t>) are negligible.</a:t>
            </a:r>
          </a:p>
          <a:p>
            <a:pPr marL="171450" lvl="0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" name="Picture 2" descr="A graph with blue bars&#10;&#10;AI-generated content may be incorrect.">
            <a:extLst>
              <a:ext uri="{FF2B5EF4-FFF2-40B4-BE49-F238E27FC236}">
                <a16:creationId xmlns:a16="http://schemas.microsoft.com/office/drawing/2014/main" id="{76A7FFB9-111F-48AC-D0C7-A1E1FD92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33" y="1165991"/>
            <a:ext cx="4082430" cy="30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11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3735D5D-67CB-18BB-5051-3E578265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>
            <a:extLst>
              <a:ext uri="{FF2B5EF4-FFF2-40B4-BE49-F238E27FC236}">
                <a16:creationId xmlns:a16="http://schemas.microsoft.com/office/drawing/2014/main" id="{549813E6-EF45-B27F-BD09-E94A111C0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9" name="Google Shape;129;p20">
            <a:extLst>
              <a:ext uri="{FF2B5EF4-FFF2-40B4-BE49-F238E27FC236}">
                <a16:creationId xmlns:a16="http://schemas.microsoft.com/office/drawing/2014/main" id="{2515A20E-4C97-A3EA-22ED-984F8DD82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5851" y="1774557"/>
            <a:ext cx="3652420" cy="3099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46050" indent="0">
              <a:buNone/>
            </a:pPr>
            <a:r>
              <a:rPr lang="en-GB" b="1" dirty="0"/>
              <a:t>Why it matters:</a:t>
            </a:r>
            <a:endParaRPr lang="en-GB" dirty="0"/>
          </a:p>
          <a:p>
            <a:r>
              <a:rPr lang="en-GB" dirty="0"/>
              <a:t>Visual check of how well models track the true Midcap–NIFTY spread.</a:t>
            </a:r>
          </a:p>
          <a:p>
            <a:r>
              <a:rPr lang="en-GB" dirty="0"/>
              <a:t>Highlights </a:t>
            </a:r>
            <a:r>
              <a:rPr lang="en-GB" b="1" dirty="0"/>
              <a:t>tracking error</a:t>
            </a:r>
            <a:r>
              <a:rPr lang="en-GB" dirty="0"/>
              <a:t> (gaps between actual and predictions).</a:t>
            </a:r>
          </a:p>
          <a:p>
            <a:endParaRPr lang="en-GB" dirty="0"/>
          </a:p>
          <a:p>
            <a:pPr marL="146050" indent="0">
              <a:buNone/>
            </a:pPr>
            <a:r>
              <a:rPr lang="en-GB" b="1" dirty="0"/>
              <a:t>Key Findings:</a:t>
            </a:r>
            <a:endParaRPr lang="en-GB" dirty="0"/>
          </a:p>
          <a:p>
            <a:r>
              <a:rPr lang="en-GB" dirty="0"/>
              <a:t>Baselines (mean, lag-1) generally track the spread as well as, or better than, models.</a:t>
            </a:r>
          </a:p>
          <a:p>
            <a:r>
              <a:rPr lang="en-GB" dirty="0"/>
              <a:t>The “best” model (Random Forest) shows </a:t>
            </a:r>
            <a:r>
              <a:rPr lang="en-GB" b="1" dirty="0"/>
              <a:t>visible error and lag</a:t>
            </a:r>
            <a:r>
              <a:rPr lang="en-GB" dirty="0"/>
              <a:t> vs actuals.</a:t>
            </a:r>
          </a:p>
          <a:p>
            <a:r>
              <a:rPr lang="en-GB" dirty="0"/>
              <a:t>Confirms that machine learning models provide </a:t>
            </a:r>
            <a:r>
              <a:rPr lang="en-GB" b="1" dirty="0"/>
              <a:t>no improvement over baselines</a:t>
            </a:r>
            <a:r>
              <a:rPr lang="en-GB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</p:txBody>
      </p:sp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0669F66B-ADD4-6AFE-B87A-2C11CC2FD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30" y="1318650"/>
            <a:ext cx="4518183" cy="271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3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FC53EBF-2D72-088C-36E0-DE4F195F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>
            <a:extLst>
              <a:ext uri="{FF2B5EF4-FFF2-40B4-BE49-F238E27FC236}">
                <a16:creationId xmlns:a16="http://schemas.microsoft.com/office/drawing/2014/main" id="{712CEC0C-2784-AD8E-2782-DF8AC293BC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29" name="Google Shape;129;p20">
            <a:extLst>
              <a:ext uri="{FF2B5EF4-FFF2-40B4-BE49-F238E27FC236}">
                <a16:creationId xmlns:a16="http://schemas.microsoft.com/office/drawing/2014/main" id="{44A1D94F-2A15-42C9-5B04-5CEBA3CEB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5850" y="1853850"/>
            <a:ext cx="7596741" cy="15845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u="sng" dirty="0">
                <a:sym typeface="Arial"/>
              </a:rPr>
              <a:t>Interpretation: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Quarterly macro ≠ strong edge: CPI, GDP, repo, and monsoon don’t add reliable power vs naïve yardsticks.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Momentum carries the signal, but not enough to beat a constant mean on error.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Why: Quarterly aggregation blurs timing; effects likely priced or acting at different horizons; small sample (~39) → high variance.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5296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User Benefit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For portfolio teams: Keep the baseline as the production default; treat inflation as a light overlay signal (guardrails on position size).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For sell-side: Publish a quarterly “Monsoon + Macro” note translating the latest IMD + CPI prints into scenario commentary.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For policy: Use the framework to discuss climate →growth → equity sensitivity; monitor whether the relationship strengthens with more data.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729449" y="2078874"/>
            <a:ext cx="7949601" cy="2562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Conclusion: With the current sample, a simple baseline beats more complex variants. Inflation (YoY) shows the only consistent informational edge; monsoon effects are directional but weak.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u="sng" dirty="0"/>
              <a:t>Limitations: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Sample size (~39 trainable quarters) → unstable estimates; negative R² vs naïve baselines.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Aggregation &amp; timing: Monsoon stamped at Sep-end and carried; GDP/CPI as YoY quarterly figures; repo moves are stepwise; publication lags matter.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Scope: Relative index spread only; no costs/portfolio construction.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/>
              <a:t>Next steps: Backfill more history, test regime-aware models (e.g., “high-inflation vs low-inflation” regimes), and explore sector-level effects to increase sample size.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Bibliography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India Meteorological Department. (n.d.). All-India rainfall time series. Retrieved September 7, 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Ministry of Statistics &amp; </a:t>
            </a:r>
            <a:r>
              <a:rPr lang="en-US" altLang="en-US" sz="1200" dirty="0" err="1"/>
              <a:t>Programme</a:t>
            </a:r>
            <a:r>
              <a:rPr lang="en-US" altLang="en-US" sz="1200" dirty="0"/>
              <a:t> Implementation. (n.d.). Consumer Price Index (Base 2012=100). Retrieved September 7, 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National Statistical Office, </a:t>
            </a:r>
            <a:r>
              <a:rPr lang="en-US" altLang="en-US" sz="1200" dirty="0" err="1"/>
              <a:t>MoSPI</a:t>
            </a:r>
            <a:r>
              <a:rPr lang="en-US" altLang="en-US" sz="1200" dirty="0"/>
              <a:t>. (n.d.). Quarterly estimates of GDP at constant (2011–12) prices. Retrieved September 7, 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Reserve Bank of India. (n.d.). Monetary policy — policy repo rate: historical data. Retrieved September 7, 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NSE Indices Limited. (n.d.). NIFTY 50; NIFTY Midcap 100 — historical data. Retrieved September 7, 2025.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200" dirty="0"/>
              <a:t>(Optional) Academic articles exploring monsoon–GDP and macro–equity relationships (list in notes with year, title, journal, DOI).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1640</Words>
  <Application>Microsoft Office PowerPoint</Application>
  <PresentationFormat>On-screen Show (16:9)</PresentationFormat>
  <Paragraphs>176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Raleway</vt:lpstr>
      <vt:lpstr>Lato</vt:lpstr>
      <vt:lpstr>Times New Roman</vt:lpstr>
      <vt:lpstr>Arial</vt:lpstr>
      <vt:lpstr>Streamline</vt:lpstr>
      <vt:lpstr>Monsoon &amp; Macro Signals to Predict Stock Break-Out Final Presentation</vt:lpstr>
      <vt:lpstr>Executive Summary</vt:lpstr>
      <vt:lpstr>Gap Analysis</vt:lpstr>
      <vt:lpstr>Research Questions</vt:lpstr>
      <vt:lpstr>Data Description and EDA</vt:lpstr>
      <vt:lpstr>Data Description and EDA</vt:lpstr>
      <vt:lpstr>Data Description and EDA</vt:lpstr>
      <vt:lpstr>Architecture diagram/Workflow</vt:lpstr>
      <vt:lpstr>Model building</vt:lpstr>
      <vt:lpstr>Results</vt:lpstr>
      <vt:lpstr>Results</vt:lpstr>
      <vt:lpstr>Results</vt:lpstr>
      <vt:lpstr>Results</vt:lpstr>
      <vt:lpstr>Results</vt:lpstr>
      <vt:lpstr>Implementation and User Benefit</vt:lpstr>
      <vt:lpstr>Conclusion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Abhilash Panicker</dc:creator>
  <cp:lastModifiedBy>Abhilash Panicker</cp:lastModifiedBy>
  <cp:revision>57</cp:revision>
  <dcterms:modified xsi:type="dcterms:W3CDTF">2025-09-07T14:15:35Z</dcterms:modified>
</cp:coreProperties>
</file>