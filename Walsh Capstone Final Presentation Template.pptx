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Raleway"/>
      <p:regular r:id="rId17"/>
      <p:bold r:id="rId18"/>
      <p:italic r:id="rId19"/>
      <p:boldItalic r:id="rId20"/>
    </p:embeddedFont>
    <p:embeddedFont>
      <p:font typeface="Lato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aleway-boldItalic.fntdata"/><Relationship Id="rId11" Type="http://schemas.openxmlformats.org/officeDocument/2006/relationships/slide" Target="slides/slide6.xml"/><Relationship Id="rId22" Type="http://schemas.openxmlformats.org/officeDocument/2006/relationships/font" Target="fonts/Lato-bold.fntdata"/><Relationship Id="rId10" Type="http://schemas.openxmlformats.org/officeDocument/2006/relationships/slide" Target="slides/slide5.xml"/><Relationship Id="rId21" Type="http://schemas.openxmlformats.org/officeDocument/2006/relationships/font" Target="fonts/Lato-regular.fntdata"/><Relationship Id="rId13" Type="http://schemas.openxmlformats.org/officeDocument/2006/relationships/slide" Target="slides/slide8.xml"/><Relationship Id="rId24" Type="http://schemas.openxmlformats.org/officeDocument/2006/relationships/font" Target="fonts/Lato-boldItalic.fntdata"/><Relationship Id="rId12" Type="http://schemas.openxmlformats.org/officeDocument/2006/relationships/slide" Target="slides/slide7.xml"/><Relationship Id="rId23" Type="http://schemas.openxmlformats.org/officeDocument/2006/relationships/font" Target="fonts/Lato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font" Target="fonts/Raleway-regular.fntdata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font" Target="fonts/Raleway-italic.fntdata"/><Relationship Id="rId6" Type="http://schemas.openxmlformats.org/officeDocument/2006/relationships/slide" Target="slides/slide1.xml"/><Relationship Id="rId18" Type="http://schemas.openxmlformats.org/officeDocument/2006/relationships/font" Target="fonts/Raleway-bold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37b453ca69b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37b453ca69b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Student name - 2 marks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Mentor’s name - 2 marks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Topic name - 2 marks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-&gt; automated grading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7b453ca69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7b453ca69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7b453ca69b_0_1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7b453ca69b_0_1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7b453ca69b_0_1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7b453ca69b_0_1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7b453ca69b_0_1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7b453ca69b_0_1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7b453ca69b_0_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7b453ca69b_0_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7b453ca69b_0_1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7b453ca69b_0_1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7b453ca69b_0_1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7b453ca69b_0_1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7b453ca69b_0_1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7b453ca69b_0_1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7b453ca69b_0_2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7b453ca69b_0_2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7b453ca69b_0_2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7b453ca69b_0_2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p3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" name="Google Shape;28;p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" name="Google Shape;36;p5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2" type="body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6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7"/>
          <p:cNvSpPr txBox="1"/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" name="Google Shape;59;p8"/>
          <p:cNvSpPr txBox="1"/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9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67" name="Google Shape;67;p9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68" name="Google Shape;68;p9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7" name="Google Shape;77;p11"/>
          <p:cNvSpPr txBox="1"/>
          <p:nvPr>
            <p:ph hasCustomPrompt="1" type="title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/>
          <p:nvPr>
            <p:ph idx="1" type="body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218181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300">
                <a:latin typeface="Times New Roman"/>
                <a:ea typeface="Times New Roman"/>
                <a:cs typeface="Times New Roman"/>
                <a:sym typeface="Times New Roman"/>
              </a:rPr>
              <a:t>Data Analytics Capstone Topic</a:t>
            </a:r>
            <a:endParaRPr sz="23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lnSpc>
                <a:spcPct val="218181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300"/>
              <a:t>Final Presentation</a:t>
            </a:r>
            <a:endParaRPr sz="23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7" name="Google Shape;87;p13"/>
          <p:cNvSpPr txBox="1"/>
          <p:nvPr>
            <p:ph idx="1" type="subTitle"/>
          </p:nvPr>
        </p:nvSpPr>
        <p:spPr>
          <a:xfrm>
            <a:off x="729450" y="3056825"/>
            <a:ext cx="81027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Times New Roman"/>
                <a:ea typeface="Times New Roman"/>
                <a:cs typeface="Times New Roman"/>
                <a:sym typeface="Times New Roman"/>
              </a:rPr>
              <a:t>Name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Times New Roman"/>
                <a:ea typeface="Times New Roman"/>
                <a:cs typeface="Times New Roman"/>
                <a:sym typeface="Times New Roman"/>
              </a:rPr>
              <a:t>Mentor’s name</a:t>
            </a:r>
            <a:endParaRPr sz="18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Executive Summary</a:t>
            </a:r>
            <a:endParaRPr/>
          </a:p>
        </p:txBody>
      </p:sp>
      <p:sp>
        <p:nvSpPr>
          <p:cNvPr id="93" name="Google Shape;93;p1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In 5 bullet points, show the major items: objective/scope, importance, data, final results and usage.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Gap Analysis</a:t>
            </a:r>
            <a:endParaRPr/>
          </a:p>
        </p:txBody>
      </p:sp>
      <p:sp>
        <p:nvSpPr>
          <p:cNvPr id="99" name="Google Shape;99;p15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Gist of literature review.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Provide justification of the </a:t>
            </a:r>
            <a:r>
              <a:rPr lang="en"/>
              <a:t>particular</a:t>
            </a:r>
            <a:r>
              <a:rPr lang="en"/>
              <a:t> problem.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Research Questions</a:t>
            </a:r>
            <a:endParaRPr/>
          </a:p>
        </p:txBody>
      </p:sp>
      <p:sp>
        <p:nvSpPr>
          <p:cNvPr id="105" name="Google Shape;105;p16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Research questions,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Null and </a:t>
            </a:r>
            <a:r>
              <a:rPr lang="en"/>
              <a:t>alternative</a:t>
            </a:r>
            <a:r>
              <a:rPr lang="en"/>
              <a:t> hypotheses.</a:t>
            </a:r>
            <a:endParaRPr/>
          </a:p>
          <a:p>
            <a:pPr indent="0" lvl="0" marL="0" rtl="0" algn="just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Identify the statistical method used.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 results.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Description and EDA</a:t>
            </a:r>
            <a:endParaRPr/>
          </a:p>
        </p:txBody>
      </p:sp>
      <p:sp>
        <p:nvSpPr>
          <p:cNvPr id="111" name="Google Shape;111;p1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Add details of data with interpretation and EDA results.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Architecture diagram/Workflow</a:t>
            </a:r>
            <a:endParaRPr/>
          </a:p>
        </p:txBody>
      </p:sp>
      <p:sp>
        <p:nvSpPr>
          <p:cNvPr id="117" name="Google Shape;117;p1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Add the diagram with proper legends.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Model building</a:t>
            </a:r>
            <a:endParaRPr/>
          </a:p>
        </p:txBody>
      </p:sp>
      <p:sp>
        <p:nvSpPr>
          <p:cNvPr id="123" name="Google Shape;123;p1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Explain the choices made, and justify the model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Results</a:t>
            </a:r>
            <a:endParaRPr/>
          </a:p>
        </p:txBody>
      </p:sp>
      <p:sp>
        <p:nvSpPr>
          <p:cNvPr id="129" name="Google Shape;129;p2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Add visualizations if possible, with inferences.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Implementation and User Benefit</a:t>
            </a:r>
            <a:endParaRPr/>
          </a:p>
        </p:txBody>
      </p:sp>
      <p:sp>
        <p:nvSpPr>
          <p:cNvPr id="135" name="Google Shape;135;p21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Add at most 5 bullet points.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Conclusion</a:t>
            </a:r>
            <a:endParaRPr/>
          </a:p>
        </p:txBody>
      </p:sp>
      <p:sp>
        <p:nvSpPr>
          <p:cNvPr id="141" name="Google Shape;141;p2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Can include limitations and future work if required.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Bibliography</a:t>
            </a:r>
            <a:endParaRPr/>
          </a:p>
        </p:txBody>
      </p:sp>
      <p:sp>
        <p:nvSpPr>
          <p:cNvPr id="147" name="Google Shape;147;p2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Create the bibliography using the APA7 style.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